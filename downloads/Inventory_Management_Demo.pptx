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0ca3ed4ebe499f" /><Relationship Type="http://schemas.openxmlformats.org/officeDocument/2006/relationships/extended-properties" Target="/docProps/app.xml" Id="Rc94dd70352ed4b37" /><Relationship Type="http://schemas.openxmlformats.org/officeDocument/2006/relationships/officeDocument" Target="/ppt/presentation.xml" Id="R81511a25a97a46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f193f833d4e70"/>
  </p:sldMasterIdLst>
  <p:notesMasterIdLst>
    <p:notesMasterId xmlns:r="http://schemas.openxmlformats.org/officeDocument/2006/relationships" r:id="Rffe47d6697484303"/>
  </p:notesMasterIdLst>
  <p:sldIdLst>
    <p:sldId xmlns:r="http://schemas.openxmlformats.org/officeDocument/2006/relationships" id="256" r:id="R5e9b687f2e724c10"/>
    <p:sldId xmlns:r="http://schemas.openxmlformats.org/officeDocument/2006/relationships" id="257" r:id="R022c163c2bd7426a"/>
    <p:sldId xmlns:r="http://schemas.openxmlformats.org/officeDocument/2006/relationships" id="258" r:id="R924b5f0e61d54493"/>
    <p:sldId xmlns:r="http://schemas.openxmlformats.org/officeDocument/2006/relationships" id="259" r:id="R11e91d16d8af431c"/>
    <p:sldId xmlns:r="http://schemas.openxmlformats.org/officeDocument/2006/relationships" id="260" r:id="Raac34407256d4f73"/>
    <p:sldId xmlns:r="http://schemas.openxmlformats.org/officeDocument/2006/relationships" id="261" r:id="Rb66c1562ef124378"/>
    <p:sldId xmlns:r="http://schemas.openxmlformats.org/officeDocument/2006/relationships" id="262" r:id="R101bf6715246400a"/>
    <p:sldId xmlns:r="http://schemas.openxmlformats.org/officeDocument/2006/relationships" id="263" r:id="Rab50ff55b0844f54"/>
    <p:sldId xmlns:r="http://schemas.openxmlformats.org/officeDocument/2006/relationships" id="264" r:id="R617315f176034bc2"/>
    <p:sldId xmlns:r="http://schemas.openxmlformats.org/officeDocument/2006/relationships" id="265" r:id="Rc39c7c5874ef4719"/>
    <p:sldId xmlns:r="http://schemas.openxmlformats.org/officeDocument/2006/relationships" id="266" r:id="Ra5cd26c139e84315"/>
    <p:sldId xmlns:r="http://schemas.openxmlformats.org/officeDocument/2006/relationships" id="267" r:id="R008b0ffefc2845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2280dfc38f4cc1" /><Relationship Type="http://schemas.openxmlformats.org/officeDocument/2006/relationships/slideMaster" Target="/ppt/slideMasters/slideMaster1.xml" Id="R264f193f833d4e70" /><Relationship Type="http://schemas.openxmlformats.org/officeDocument/2006/relationships/notesMaster" Target="/ppt/notesMasters/notesMaster1.xml" Id="Rffe47d6697484303" /><Relationship Type="http://schemas.openxmlformats.org/officeDocument/2006/relationships/presProps" Target="/ppt/presProps.xml" Id="Rc9f31890812846a5" /><Relationship Type="http://schemas.openxmlformats.org/officeDocument/2006/relationships/tableStyles" Target="/ppt/tableStyles.xml" Id="Re3e6d5241c2d49a7" /><Relationship Type="http://schemas.openxmlformats.org/officeDocument/2006/relationships/slide" Target="/ppt/slides/slide1.xml" Id="R5e9b687f2e724c10" /><Relationship Type="http://schemas.openxmlformats.org/officeDocument/2006/relationships/slide" Target="/ppt/slides/slide2.xml" Id="R022c163c2bd7426a" /><Relationship Type="http://schemas.openxmlformats.org/officeDocument/2006/relationships/slide" Target="/ppt/slides/slide3.xml" Id="R924b5f0e61d54493" /><Relationship Type="http://schemas.openxmlformats.org/officeDocument/2006/relationships/slide" Target="/ppt/slides/slide4.xml" Id="R11e91d16d8af431c" /><Relationship Type="http://schemas.openxmlformats.org/officeDocument/2006/relationships/slide" Target="/ppt/slides/slide5.xml" Id="Raac34407256d4f73" /><Relationship Type="http://schemas.openxmlformats.org/officeDocument/2006/relationships/slide" Target="/ppt/slides/slide6.xml" Id="Rb66c1562ef124378" /><Relationship Type="http://schemas.openxmlformats.org/officeDocument/2006/relationships/slide" Target="/ppt/slides/slide7.xml" Id="R101bf6715246400a" /><Relationship Type="http://schemas.openxmlformats.org/officeDocument/2006/relationships/slide" Target="/ppt/slides/slide8.xml" Id="Rab50ff55b0844f54" /><Relationship Type="http://schemas.openxmlformats.org/officeDocument/2006/relationships/slide" Target="/ppt/slides/slide9.xml" Id="R617315f176034bc2" /><Relationship Type="http://schemas.openxmlformats.org/officeDocument/2006/relationships/slide" Target="/ppt/slides/slide10.xml" Id="Rc39c7c5874ef4719" /><Relationship Type="http://schemas.openxmlformats.org/officeDocument/2006/relationships/slide" Target="/ppt/slides/slide11.xml" Id="Ra5cd26c139e84315" /><Relationship Type="http://schemas.openxmlformats.org/officeDocument/2006/relationships/slide" Target="/ppt/slides/slide12.xml" Id="R008b0ffefc28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e2bf45eb2444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ec61c4a8164f2a" /><Relationship Type="http://schemas.openxmlformats.org/officeDocument/2006/relationships/notesMaster" Target="/ppt/notesMasters/notesMaster1.xml" Id="R01b7c93994c140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9bfbc26534aba" /><Relationship Type="http://schemas.openxmlformats.org/officeDocument/2006/relationships/notesMaster" Target="/ppt/notesMasters/notesMaster1.xml" Id="Rf0024592b3a6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2f8035aa04243" /><Relationship Type="http://schemas.openxmlformats.org/officeDocument/2006/relationships/notesMaster" Target="/ppt/notesMasters/notesMaster1.xml" Id="Rdd9354dae32a4d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17acd5ee646fa" /><Relationship Type="http://schemas.openxmlformats.org/officeDocument/2006/relationships/notesMaster" Target="/ppt/notesMasters/notesMaster1.xml" Id="R03811cca631d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2c93a8ceea4f7a" /><Relationship Type="http://schemas.openxmlformats.org/officeDocument/2006/relationships/notesMaster" Target="/ppt/notesMasters/notesMaster1.xml" Id="Rd715c7ab60f145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b228c0fc844e3b" /><Relationship Type="http://schemas.openxmlformats.org/officeDocument/2006/relationships/notesMaster" Target="/ppt/notesMasters/notesMaster1.xml" Id="Rab9f9f0971cd4b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f9918b2cfa4736" /><Relationship Type="http://schemas.openxmlformats.org/officeDocument/2006/relationships/notesMaster" Target="/ppt/notesMasters/notesMaster1.xml" Id="R07f34826ab124a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dbcf1b85d5424e" /><Relationship Type="http://schemas.openxmlformats.org/officeDocument/2006/relationships/notesMaster" Target="/ppt/notesMasters/notesMaster1.xml" Id="Rcef429dfbecd42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81e1c6047a448a" /><Relationship Type="http://schemas.openxmlformats.org/officeDocument/2006/relationships/notesMaster" Target="/ppt/notesMasters/notesMaster1.xml" Id="R3538b05b1df340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f49557a29b40c4" /><Relationship Type="http://schemas.openxmlformats.org/officeDocument/2006/relationships/notesMaster" Target="/ppt/notesMasters/notesMaster1.xml" Id="R7f4b8bd3a6b249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9a01d9be654332" /><Relationship Type="http://schemas.openxmlformats.org/officeDocument/2006/relationships/notesMaster" Target="/ppt/notesMasters/notesMaster1.xml" Id="Rc5168011d92443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19e8212f7045f5" /><Relationship Type="http://schemas.openxmlformats.org/officeDocument/2006/relationships/notesMaster" Target="/ppt/notesMasters/notesMaster1.xml" Id="Rbf82ef1112c6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adaptation of internship work by Annie Zheng. This presentation uses fictional financial, stock and recipe examples to demonstrate the analytical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dabf9790f4f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68516c69d4c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f7fd8e44846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2889c459f43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72922e4574e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3ed43f836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E08E7D-1C7D-47A5-B9C7-FB5E6652E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4AFC17-05D6-4CB2-8713-01E1A4D02D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241269-AFEC-4ABA-BE4B-A61DA0C4A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71EB09-CEC8-4ABD-B16E-2AF3CBFC4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8310DF-BD36-4BC1-980A-F316BA2ED2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5B83F4-0977-4971-A9DB-6614FEF739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599C61-4E20-4592-981F-05E390EE1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57B45A-6CFF-4F5A-924C-6FD1A712CF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DE373A-3015-4125-94D8-B43649F47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1082AA-7AD5-4012-AA4B-AA4484889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5446202d474d33" /><Relationship Type="http://schemas.openxmlformats.org/officeDocument/2006/relationships/slideLayout" Target="/ppt/slideLayouts/slideLayout1.xml" Id="Rf7da6aa336db439c" /><Relationship Type="http://schemas.openxmlformats.org/officeDocument/2006/relationships/slideLayout" Target="/ppt/slideLayouts/slideLayout2.xml" Id="Rde11397f97fe4d1f" /><Relationship Type="http://schemas.openxmlformats.org/officeDocument/2006/relationships/slideLayout" Target="/ppt/slideLayouts/slideLayout3.xml" Id="R42e31501c0ef4544" /><Relationship Type="http://schemas.openxmlformats.org/officeDocument/2006/relationships/slideLayout" Target="/ppt/slideLayouts/slideLayout4.xml" Id="Rd2697d2162b5476d" /><Relationship Type="http://schemas.openxmlformats.org/officeDocument/2006/relationships/slideLayout" Target="/ppt/slideLayouts/slideLayout5.xml" Id="R190b1f7bdfcd4b8e" /><Relationship Type="http://schemas.openxmlformats.org/officeDocument/2006/relationships/slideLayout" Target="/ppt/slideLayouts/slideLayout6.xml" Id="R8d6914c1842a4d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da6aa336db439c"/>
    <p:sldLayoutId xmlns:r="http://schemas.openxmlformats.org/officeDocument/2006/relationships" id="2147483650" r:id="Rde11397f97fe4d1f"/>
    <p:sldLayoutId xmlns:r="http://schemas.openxmlformats.org/officeDocument/2006/relationships" id="2147483651" r:id="R42e31501c0ef4544"/>
    <p:sldLayoutId xmlns:r="http://schemas.openxmlformats.org/officeDocument/2006/relationships" id="2147483652" r:id="Rd2697d2162b5476d"/>
    <p:sldLayoutId xmlns:r="http://schemas.openxmlformats.org/officeDocument/2006/relationships" id="2147483653" r:id="R190b1f7bdfcd4b8e"/>
    <p:sldLayoutId xmlns:r="http://schemas.openxmlformats.org/officeDocument/2006/relationships" id="2147483654" r:id="R8d6914c1842a4d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df92cd5334529" /><Relationship Type="http://schemas.openxmlformats.org/officeDocument/2006/relationships/notesSlide" Target="/ppt/notesSlides/notesSlide1.xml" Id="R66123c19618f47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584534b08426e" /><Relationship Type="http://schemas.openxmlformats.org/officeDocument/2006/relationships/notesSlide" Target="/ppt/notesSlides/notesSlide2.xml" Id="Rbdee56b9712a41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d9317bc034cd9" /><Relationship Type="http://schemas.openxmlformats.org/officeDocument/2006/relationships/notesSlide" Target="/ppt/notesSlides/notesSlide3.xml" Id="R6bc11090c77d45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66c2470394323" /><Relationship Type="http://schemas.openxmlformats.org/officeDocument/2006/relationships/notesSlide" Target="/ppt/notesSlides/notesSlide4.xml" Id="Rc1486d8157b346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7f026f9104f47" /><Relationship Type="http://schemas.openxmlformats.org/officeDocument/2006/relationships/notesSlide" Target="/ppt/notesSlides/notesSlide5.xml" Id="Rbbdb0cfa52f544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ac698d43448b4" /><Relationship Type="http://schemas.openxmlformats.org/officeDocument/2006/relationships/notesSlide" Target="/ppt/notesSlides/notesSlide6.xml" Id="R68614c79d22542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6562414f240db" /><Relationship Type="http://schemas.openxmlformats.org/officeDocument/2006/relationships/notesSlide" Target="/ppt/notesSlides/notesSlide7.xml" Id="Ra51f6856b1a04d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c2d93b5174e68" /><Relationship Type="http://schemas.openxmlformats.org/officeDocument/2006/relationships/notesSlide" Target="/ppt/notesSlides/notesSlide8.xml" Id="R4901f4e887e4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d52a50a6b42c0" /><Relationship Type="http://schemas.openxmlformats.org/officeDocument/2006/relationships/notesSlide" Target="/ppt/notesSlides/notesSlide9.xml" Id="R6d9b1c2af6d445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87a1307144175" /><Relationship Type="http://schemas.openxmlformats.org/officeDocument/2006/relationships/notesSlide" Target="/ppt/notesSlides/notesSlide10.xml" Id="R81d57ef6dc6948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a334ef7b84f08" /><Relationship Type="http://schemas.openxmlformats.org/officeDocument/2006/relationships/notesSlide" Target="/ppt/notesSlides/notesSlide11.xml" Id="R01993a6a594047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b3c4ae79344e1" /><Relationship Type="http://schemas.openxmlformats.org/officeDocument/2006/relationships/notesSlide" Target="/ppt/notesSlides/notesSlide12.xml" Id="R0ef6b201d50941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61">
            <a:extLst xmlns:a="http://schemas.openxmlformats.org/drawingml/2006/main">
              <a:ext uri="{FF2B5EF4-FFF2-40B4-BE49-F238E27FC236}">
                <a16:creationId xmlns:a16="http://schemas.microsoft.com/office/drawing/2014/main" id="{BDF8013C-A890-46B4-B4FB-2C126D42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62">
            <a:extLst xmlns:a="http://schemas.openxmlformats.org/drawingml/2006/main">
              <a:ext uri="{FF2B5EF4-FFF2-40B4-BE49-F238E27FC236}">
                <a16:creationId xmlns:a16="http://schemas.microsoft.com/office/drawing/2014/main" id="{E8AC45C1-7431-4A7D-8A64-1BC89BB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" name="text-63">
            <a:extLst xmlns:a="http://schemas.openxmlformats.org/drawingml/2006/main">
              <a:ext uri="{FF2B5EF4-FFF2-40B4-BE49-F238E27FC236}">
                <a16:creationId xmlns:a16="http://schemas.microsoft.com/office/drawing/2014/main" id="{2861DEF4-FDB0-4BC2-B860-B076851F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Inventory and Purchasing</a:t>
            </a:r>
          </a:p>
        </p:txBody>
      </p:sp>
      <p:sp>
        <p:nvSpPr>
          <p:cNvPr id="4" name="text-64">
            <a:extLst xmlns:a="http://schemas.openxmlformats.org/drawingml/2006/main">
              <a:ext uri="{FF2B5EF4-FFF2-40B4-BE49-F238E27FC236}">
                <a16:creationId xmlns:a16="http://schemas.microsoft.com/office/drawing/2014/main" id="{A68FA77F-0D03-41FE-962C-5DFE088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65">
            <a:extLst xmlns:a="http://schemas.openxmlformats.org/drawingml/2006/main">
              <a:ext uri="{FF2B5EF4-FFF2-40B4-BE49-F238E27FC236}">
                <a16:creationId xmlns:a16="http://schemas.microsoft.com/office/drawing/2014/main" id="{E576F298-6EBD-4873-A0FD-69C9D18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Sales-driven replenishment workflow</a:t>
            </a:r>
          </a:p>
        </p:txBody>
      </p:sp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A748551D-073C-4E0C-ABDC-0B9B0F08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A fictional demonstration of menu mapping, ingredient usage, stock reconciliation and supplier orders</a:t>
            </a: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2E6B6F9E-2FC1-4A9F-8469-30881CE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14 sales days. Four invented ingredients. Editable workbook calculations.</a:t>
            </a:r>
          </a:p>
        </p:txBody>
      </p:sp>
    </p:spTree>
    <p:extLst>
      <p:ext uri="{BB962C8B-B14F-4D97-AF65-F5344CB8AC3E}">
        <p14:creationId xmlns:p14="http://schemas.microsoft.com/office/powerpoint/2010/main" val="76280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78773316-08A4-44AF-86A0-0342CDFC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69">
            <a:extLst xmlns:a="http://schemas.openxmlformats.org/drawingml/2006/main">
              <a:ext uri="{FF2B5EF4-FFF2-40B4-BE49-F238E27FC236}">
                <a16:creationId xmlns:a16="http://schemas.microsoft.com/office/drawing/2014/main" id="{8470667A-853A-4D85-A737-A2777512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text-70">
            <a:extLst xmlns:a="http://schemas.openxmlformats.org/drawingml/2006/main">
              <a:ext uri="{FF2B5EF4-FFF2-40B4-BE49-F238E27FC236}">
                <a16:creationId xmlns:a16="http://schemas.microsoft.com/office/drawing/2014/main" id="{996AA5E6-E6F1-49D6-8BF4-EB08CF1A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Purchasing process</a:t>
            </a:r>
          </a:p>
        </p:txBody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883DB8CA-84B6-4583-98A4-9508C4B3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22FC6-5CDB-4DB9-A2DA-622CBE44B17A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Manual starting point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Structured workflow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Check freezer stock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Review sales and expected ingredient usage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Estimate order quantities by judgment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Compare demand with usable stock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Inconsistent purchasing records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Record confirmed receipts and counts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Place supplier order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Review rounded purchase suggestions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</a:tbl>
          </a:graphicData>
        </a:graphic>
      </p:graphicFrame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01035EB7-F92A-49B1-93C7-358DEB5F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Physical checks remain necessary. Sales-based consumption is an estimate of stock usage.</a:t>
            </a:r>
          </a:p>
        </p:txBody>
      </p:sp>
    </p:spTree>
    <p:extLst>
      <p:ext uri="{BB962C8B-B14F-4D97-AF65-F5344CB8AC3E}">
        <p14:creationId xmlns:p14="http://schemas.microsoft.com/office/powerpoint/2010/main" val="2115564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D2444ED0-9891-4029-A8CC-6B0CF39B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74">
            <a:extLst xmlns:a="http://schemas.openxmlformats.org/drawingml/2006/main">
              <a:ext uri="{FF2B5EF4-FFF2-40B4-BE49-F238E27FC236}">
                <a16:creationId xmlns:a16="http://schemas.microsoft.com/office/drawing/2014/main" id="{4AC89387-0636-43DE-8809-01298047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614985F2-0A64-4266-AA07-243BE795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Sales-to-purchasing data flow</a:t>
            </a:r>
          </a:p>
        </p:txBody>
      </p:sp>
      <p:sp>
        <p:nvSpPr>
          <p:cNvPr id="4" name="text-76">
            <a:extLst xmlns:a="http://schemas.openxmlformats.org/drawingml/2006/main">
              <a:ext uri="{FF2B5EF4-FFF2-40B4-BE49-F238E27FC236}">
                <a16:creationId xmlns:a16="http://schemas.microsoft.com/office/drawing/2014/main" id="{9C91105C-4EFA-4DA7-BD14-082E621B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B1FA7-B316-4C57-B502-285AC430D1C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Data and calculation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Sales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Daily quantities by menu item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Mapping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Components and size multipliers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Usage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Dish quantities multiplied by ingredient portions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Stock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Physical counts, receipts and estimated usage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Purchasing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Demand coverage less stock and confirmed inbound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BC96B840-5D77-4BE6-824B-C9A408F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Production email imports and Apps Script triggers are described, but not included in this demonstration workbook.</a:t>
            </a:r>
          </a:p>
        </p:txBody>
      </p:sp>
    </p:spTree>
    <p:extLst>
      <p:ext uri="{BB962C8B-B14F-4D97-AF65-F5344CB8AC3E}">
        <p14:creationId xmlns:p14="http://schemas.microsoft.com/office/powerpoint/2010/main" val="887054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8">
            <a:extLst xmlns:a="http://schemas.openxmlformats.org/drawingml/2006/main">
              <a:ext uri="{FF2B5EF4-FFF2-40B4-BE49-F238E27FC236}">
                <a16:creationId xmlns:a16="http://schemas.microsoft.com/office/drawing/2014/main" id="{ECF63C8B-EAC5-4C43-BA67-628CE95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561AAC77-4413-4CD9-9AE4-01AED8B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1B8FA5E6-74D0-4DE3-A196-5960F77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Worked ingredient conversion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C9E5D95D-104A-426F-8AD0-6F1E615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17A6A3DB-6EFE-49BF-96AA-E76A4F4D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20 dishes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1ABEEEE0-52AA-4E03-8BA3-03C9DC97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x 0.18 kg per dish</a:t>
            </a:r>
          </a:p>
        </p:txBody>
      </p:sp>
      <p:sp>
        <p:nvSpPr>
          <p:cNvPr id="7" name="text-84">
            <a:extLst xmlns:a="http://schemas.openxmlformats.org/drawingml/2006/main">
              <a:ext uri="{FF2B5EF4-FFF2-40B4-BE49-F238E27FC236}">
                <a16:creationId xmlns:a16="http://schemas.microsoft.com/office/drawing/2014/main" id="{AAAF5953-A555-4BC0-95F5-E687365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= 3.60 kg</a:t>
            </a:r>
          </a:p>
        </p:txBody>
      </p:sp>
      <p:sp>
        <p:nvSpPr>
          <p:cNvPr id="8" name="text-85">
            <a:extLst xmlns:a="http://schemas.openxmlformats.org/drawingml/2006/main">
              <a:ext uri="{FF2B5EF4-FFF2-40B4-BE49-F238E27FC236}">
                <a16:creationId xmlns:a16="http://schemas.microsoft.com/office/drawing/2014/main" id="{994D759B-D1B0-43DC-9C55-5ECD704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4 kg per bag</a:t>
            </a:r>
          </a:p>
        </p:txBody>
      </p:sp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B2FE6080-FC10-43F9-AB74-BFE50315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3.60 kg / 4 kg</a:t>
            </a:r>
          </a:p>
        </p:txBody>
      </p:sp>
      <p:sp>
        <p:nvSpPr>
          <p:cNvPr id="10" name="text-87">
            <a:extLst xmlns:a="http://schemas.openxmlformats.org/drawingml/2006/main">
              <a:ext uri="{FF2B5EF4-FFF2-40B4-BE49-F238E27FC236}">
                <a16:creationId xmlns:a16="http://schemas.microsoft.com/office/drawing/2014/main" id="{62D4A068-9711-4385-80A3-02C597C3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= 0.90 bags</a:t>
            </a:r>
          </a:p>
        </p:txBody>
      </p:sp>
      <p:sp>
        <p:nvSpPr>
          <p:cNvPr id="11" name="text-88">
            <a:extLst xmlns:a="http://schemas.openxmlformats.org/drawingml/2006/main">
              <a:ext uri="{FF2B5EF4-FFF2-40B4-BE49-F238E27FC236}">
                <a16:creationId xmlns:a16="http://schemas.microsoft.com/office/drawing/2014/main" id="{36EE2BDA-0DC1-4558-BE5F-54A5A8B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Invented recipe and pack size. This example discloses no restaurant recipe or supplier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59897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9">
            <a:extLst xmlns:a="http://schemas.openxmlformats.org/drawingml/2006/main">
              <a:ext uri="{FF2B5EF4-FFF2-40B4-BE49-F238E27FC236}">
                <a16:creationId xmlns:a16="http://schemas.microsoft.com/office/drawing/2014/main" id="{5D3E1322-99F2-46EF-BE5C-5E4D0B20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90">
            <a:extLst xmlns:a="http://schemas.openxmlformats.org/drawingml/2006/main">
              <a:ext uri="{FF2B5EF4-FFF2-40B4-BE49-F238E27FC236}">
                <a16:creationId xmlns:a16="http://schemas.microsoft.com/office/drawing/2014/main" id="{49CFA47B-81D6-4200-8E96-277CEBF1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text-91">
            <a:extLst xmlns:a="http://schemas.openxmlformats.org/drawingml/2006/main">
              <a:ext uri="{FF2B5EF4-FFF2-40B4-BE49-F238E27FC236}">
                <a16:creationId xmlns:a16="http://schemas.microsoft.com/office/drawing/2014/main" id="{38E056AB-83C5-499A-974F-D4876ECC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Expected stock and count variance</a:t>
            </a:r>
          </a:p>
        </p:txBody>
      </p:sp>
      <p:sp>
        <p:nvSpPr>
          <p:cNvPr id="4" name="text-92">
            <a:extLst xmlns:a="http://schemas.openxmlformats.org/drawingml/2006/main">
              <a:ext uri="{FF2B5EF4-FFF2-40B4-BE49-F238E27FC236}">
                <a16:creationId xmlns:a16="http://schemas.microsoft.com/office/drawing/2014/main" id="{CE29E620-BB74-43AE-8E66-C11BFB5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00A54-86EB-4988-A296-A8CEADECD614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61912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1809750"/>
              </a:tblGrid>
              <a:tr h="563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Stock calculation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Bags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Opening count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4.00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Confirmed receipts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+2.00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Estimated usage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-0.90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Recorded waste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-0.10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Expected stock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5.00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93">
            <a:extLst xmlns:a="http://schemas.openxmlformats.org/drawingml/2006/main">
              <a:ext uri="{FF2B5EF4-FFF2-40B4-BE49-F238E27FC236}">
                <a16:creationId xmlns:a16="http://schemas.microsoft.com/office/drawing/2014/main" id="{8EBEEC07-2248-489D-89B1-69A0A840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4.80 bags</a:t>
            </a:r>
          </a:p>
        </p:txBody>
      </p:sp>
      <p:sp>
        <p:nvSpPr>
          <p:cNvPr id="7" name="text-94">
            <a:extLst xmlns:a="http://schemas.openxmlformats.org/drawingml/2006/main">
              <a:ext uri="{FF2B5EF4-FFF2-40B4-BE49-F238E27FC236}">
                <a16:creationId xmlns:a16="http://schemas.microsoft.com/office/drawing/2014/main" id="{5115D9A4-AA6F-4307-95B6-8878AED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3850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Illustrative physical count</a:t>
            </a:r>
          </a:p>
        </p:txBody>
      </p:sp>
      <p:sp>
        <p:nvSpPr>
          <p:cNvPr id="8" name="text-95">
            <a:extLst xmlns:a="http://schemas.openxmlformats.org/drawingml/2006/main">
              <a:ext uri="{FF2B5EF4-FFF2-40B4-BE49-F238E27FC236}">
                <a16:creationId xmlns:a16="http://schemas.microsoft.com/office/drawing/2014/main" id="{D5EE9FFA-BAEE-4530-998A-C50DFCF4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38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Count variance: -0.20 bags</a:t>
            </a:r>
          </a:p>
        </p:txBody>
      </p:sp>
      <p:sp>
        <p:nvSpPr>
          <p:cNvPr id="9" name="text-96">
            <a:extLst xmlns:a="http://schemas.openxmlformats.org/drawingml/2006/main">
              <a:ext uri="{FF2B5EF4-FFF2-40B4-BE49-F238E27FC236}">
                <a16:creationId xmlns:a16="http://schemas.microsoft.com/office/drawing/2014/main" id="{DA4F6EA5-AAB1-461A-96CD-1B8B51F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Investigate receipts, portions, waste and count errors before changing the stock record.</a:t>
            </a:r>
          </a:p>
        </p:txBody>
      </p:sp>
    </p:spTree>
    <p:extLst>
      <p:ext uri="{BB962C8B-B14F-4D97-AF65-F5344CB8AC3E}">
        <p14:creationId xmlns:p14="http://schemas.microsoft.com/office/powerpoint/2010/main" val="338839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7">
            <a:extLst xmlns:a="http://schemas.openxmlformats.org/drawingml/2006/main">
              <a:ext uri="{FF2B5EF4-FFF2-40B4-BE49-F238E27FC236}">
                <a16:creationId xmlns:a16="http://schemas.microsoft.com/office/drawing/2014/main" id="{B8FA63B7-3CCB-4D7C-ADAC-1832716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6478A251-F8EA-4303-A802-8DD5C41F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ADA31716-7B23-4A29-9B7C-01985915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Purchase calculation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1AFD8B70-7CC3-40DB-A873-82B38BB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240CCA70-B373-43A3-A18F-DA5AB1E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Net need = forecast + safety stock</a:t>
            </a:r>
          </a:p>
        </p:txBody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A0782E90-0C8D-478B-B61A-539DE54E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075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- usable stock - confirmed inbound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6A3C8654-AD64-472C-9702-E67E198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Cases to order = max(0, rounded-up net need)</a:t>
            </a:r>
          </a:p>
        </p:txBody>
      </p:sp>
      <p:sp>
        <p:nvSpPr>
          <p:cNvPr id="8" name="text-104">
            <a:extLst xmlns:a="http://schemas.openxmlformats.org/drawingml/2006/main">
              <a:ext uri="{FF2B5EF4-FFF2-40B4-BE49-F238E27FC236}">
                <a16:creationId xmlns:a16="http://schemas.microsoft.com/office/drawing/2014/main" id="{462FF888-88E3-4CFA-8F57-95CE67B0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All terms use supplier cases. Forecast covers the order cycle plus lead time. Inbound deliveries must arrive within that horizon.</a:t>
            </a:r>
          </a:p>
        </p:txBody>
      </p:sp>
    </p:spTree>
    <p:extLst>
      <p:ext uri="{BB962C8B-B14F-4D97-AF65-F5344CB8AC3E}">
        <p14:creationId xmlns:p14="http://schemas.microsoft.com/office/powerpoint/2010/main" val="66102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FDAB7959-6211-47D1-B1B5-A0B0BD0C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106">
            <a:extLst xmlns:a="http://schemas.openxmlformats.org/drawingml/2006/main">
              <a:ext uri="{FF2B5EF4-FFF2-40B4-BE49-F238E27FC236}">
                <a16:creationId xmlns:a16="http://schemas.microsoft.com/office/drawing/2014/main" id="{D66C9DDE-3814-4AD7-BE79-3BA5BDB2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text-107">
            <a:extLst xmlns:a="http://schemas.openxmlformats.org/drawingml/2006/main">
              <a:ext uri="{FF2B5EF4-FFF2-40B4-BE49-F238E27FC236}">
                <a16:creationId xmlns:a16="http://schemas.microsoft.com/office/drawing/2014/main" id="{278328B5-8CB2-48A3-AA81-6270DF5E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Exception review</a:t>
            </a:r>
          </a:p>
        </p:txBody>
      </p:sp>
      <p:sp>
        <p:nvSpPr>
          <p:cNvPr id="4" name="text-108">
            <a:extLst xmlns:a="http://schemas.openxmlformats.org/drawingml/2006/main">
              <a:ext uri="{FF2B5EF4-FFF2-40B4-BE49-F238E27FC236}">
                <a16:creationId xmlns:a16="http://schemas.microsoft.com/office/drawing/2014/main" id="{5030FC05-9FD5-4DF0-B2E4-156846B4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CBF11-58C2-41C0-B23C-ECF76C8E004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579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Exception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Review action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Missing sales date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Restore and reconcile the daily import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Unmapped menu item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Confirm the correct component and multiplier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Physical count mismatch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Review receipts, usage and waste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Pending supplier delivery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Exclude from received stock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Unusual order quantity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Review shelf life, storage and demand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675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C0622765-9510-4387-8B03-ECBA0709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110">
            <a:extLst xmlns:a="http://schemas.openxmlformats.org/drawingml/2006/main">
              <a:ext uri="{FF2B5EF4-FFF2-40B4-BE49-F238E27FC236}">
                <a16:creationId xmlns:a16="http://schemas.microsoft.com/office/drawing/2014/main" id="{400A7295-23B6-4093-8F99-0F7D3EF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text-111">
            <a:extLst xmlns:a="http://schemas.openxmlformats.org/drawingml/2006/main">
              <a:ext uri="{FF2B5EF4-FFF2-40B4-BE49-F238E27FC236}">
                <a16:creationId xmlns:a16="http://schemas.microsoft.com/office/drawing/2014/main" id="{69F52C99-F28D-4A70-85CF-2C1F3572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Measurement plan</a:t>
            </a:r>
          </a:p>
        </p:txBody>
      </p:sp>
      <p:sp>
        <p:nvSpPr>
          <p:cNvPr id="4" name="text-112">
            <a:extLst xmlns:a="http://schemas.openxmlformats.org/drawingml/2006/main">
              <a:ext uri="{FF2B5EF4-FFF2-40B4-BE49-F238E27FC236}">
                <a16:creationId xmlns:a16="http://schemas.microsoft.com/office/drawing/2014/main" id="{9737A96E-17DF-4764-80E6-19E5D6E2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86EFB-D08E-42AE-9470-E7CD74CE32B4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579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Measure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 supported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Stockouts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Adjust demand coverage and safety stock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Waste cost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Reduce excess purchases or revise portions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Order preparation time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Identify repetitive manual work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Count variance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Investigate inventory record differences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Forecast error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Review demand assumptions per ingredient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13">
            <a:extLst xmlns:a="http://schemas.openxmlformats.org/drawingml/2006/main">
              <a:ext uri="{FF2B5EF4-FFF2-40B4-BE49-F238E27FC236}">
                <a16:creationId xmlns:a16="http://schemas.microsoft.com/office/drawing/2014/main" id="{850B79EA-329C-4575-AEF9-32670199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04C3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A04C36"/>
                </a:solidFill>
                <a:latin typeface="Calibri"/>
                <a:ea typeface="Calibri"/>
                <a:cs typeface="Calibri"/>
              </a:rPr>
              <a:t>Establish a four-week baseline, then set targets for each ingredient and order cycle.</a:t>
            </a:r>
          </a:p>
        </p:txBody>
      </p:sp>
    </p:spTree>
    <p:extLst>
      <p:ext uri="{BB962C8B-B14F-4D97-AF65-F5344CB8AC3E}">
        <p14:creationId xmlns:p14="http://schemas.microsoft.com/office/powerpoint/2010/main" val="1060597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14">
            <a:extLst xmlns:a="http://schemas.openxmlformats.org/drawingml/2006/main">
              <a:ext uri="{FF2B5EF4-FFF2-40B4-BE49-F238E27FC236}">
                <a16:creationId xmlns:a16="http://schemas.microsoft.com/office/drawing/2014/main" id="{73DF313B-BD29-4A0F-9191-4493F97A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115">
            <a:extLst xmlns:a="http://schemas.openxmlformats.org/drawingml/2006/main">
              <a:ext uri="{FF2B5EF4-FFF2-40B4-BE49-F238E27FC236}">
                <a16:creationId xmlns:a16="http://schemas.microsoft.com/office/drawing/2014/main" id="{D8D23B5C-A6E4-40EF-8DC7-077B103C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text-116">
            <a:extLst xmlns:a="http://schemas.openxmlformats.org/drawingml/2006/main">
              <a:ext uri="{FF2B5EF4-FFF2-40B4-BE49-F238E27FC236}">
                <a16:creationId xmlns:a16="http://schemas.microsoft.com/office/drawing/2014/main" id="{1046248A-564A-43C8-9951-29E7D361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Data and forecasting controls</a:t>
            </a:r>
          </a:p>
        </p:txBody>
      </p:sp>
      <p:sp>
        <p:nvSpPr>
          <p:cNvPr id="4" name="text-117">
            <a:extLst xmlns:a="http://schemas.openxmlformats.org/drawingml/2006/main">
              <a:ext uri="{FF2B5EF4-FFF2-40B4-BE49-F238E27FC236}">
                <a16:creationId xmlns:a16="http://schemas.microsoft.com/office/drawing/2014/main" id="{F733528E-80DD-41A9-BADF-9CEB7D1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FDFE9130-EA4E-4CF6-A698-0AF293B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Data controls: record source dates, check missing days and prevent duplicate imports.</a:t>
            </a:r>
          </a:p>
        </p:txBody>
      </p:sp>
      <p:sp>
        <p:nvSpPr>
          <p:cNvPr id="6" name="text-119">
            <a:extLst xmlns:a="http://schemas.openxmlformats.org/drawingml/2006/main">
              <a:ext uri="{FF2B5EF4-FFF2-40B4-BE49-F238E27FC236}">
                <a16:creationId xmlns:a16="http://schemas.microsoft.com/office/drawing/2014/main" id="{FEACFD4B-568C-4346-B4C3-E4347B7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Inventory controls: use confirmed receipts, physical counts and recorded waste.</a:t>
            </a:r>
          </a:p>
        </p:txBody>
      </p:sp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7E898441-3AC1-4C4B-B6F7-EADA47F7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Forecast controls: save each forecast before the period and compare it with matching usage.</a:t>
            </a:r>
          </a:p>
        </p:txBody>
      </p:sp>
      <p:sp>
        <p:nvSpPr>
          <p:cNvPr id="8" name="text-121">
            <a:extLst xmlns:a="http://schemas.openxmlformats.org/drawingml/2006/main">
              <a:ext uri="{FF2B5EF4-FFF2-40B4-BE49-F238E27FC236}">
                <a16:creationId xmlns:a16="http://schemas.microsoft.com/office/drawing/2014/main" id="{B5A87826-8E07-4607-B685-5A72930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Manager review: document overrides and check storage capacity and ingredient shelf life.</a:t>
            </a:r>
          </a:p>
        </p:txBody>
      </p:sp>
    </p:spTree>
    <p:extLst>
      <p:ext uri="{BB962C8B-B14F-4D97-AF65-F5344CB8AC3E}">
        <p14:creationId xmlns:p14="http://schemas.microsoft.com/office/powerpoint/2010/main" val="1589429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2">
            <a:extLst xmlns:a="http://schemas.openxmlformats.org/drawingml/2006/main">
              <a:ext uri="{FF2B5EF4-FFF2-40B4-BE49-F238E27FC236}">
                <a16:creationId xmlns:a16="http://schemas.microsoft.com/office/drawing/2014/main" id="{081DCAB6-65F4-4072-BDC0-F5CFA5CD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123">
            <a:extLst xmlns:a="http://schemas.openxmlformats.org/drawingml/2006/main">
              <a:ext uri="{FF2B5EF4-FFF2-40B4-BE49-F238E27FC236}">
                <a16:creationId xmlns:a16="http://schemas.microsoft.com/office/drawing/2014/main" id="{51C5749B-C870-49EC-9700-39C390A1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text-124">
            <a:extLst xmlns:a="http://schemas.openxmlformats.org/drawingml/2006/main">
              <a:ext uri="{FF2B5EF4-FFF2-40B4-BE49-F238E27FC236}">
                <a16:creationId xmlns:a16="http://schemas.microsoft.com/office/drawing/2014/main" id="{01BDF366-5191-4893-B7D2-65C3FB92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Proposed implementation and review</a:t>
            </a:r>
          </a:p>
        </p:txBody>
      </p:sp>
      <p:sp>
        <p:nvSpPr>
          <p:cNvPr id="4" name="text-125">
            <a:extLst xmlns:a="http://schemas.openxmlformats.org/drawingml/2006/main">
              <a:ext uri="{FF2B5EF4-FFF2-40B4-BE49-F238E27FC236}">
                <a16:creationId xmlns:a16="http://schemas.microsoft.com/office/drawing/2014/main" id="{0CDE47FD-BCFE-4005-9A58-C9B5BF35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8D07C-9E32-4313-B215-CD4D5B2AEC0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Weeks 1-2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Validate mappings, portions, pack sizes and opening counts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Weeks 3-6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Record usage, receipts, counts and order overrides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End of week 6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Review four complete weeks of measurement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Following period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Adjust policies and monitor the next order cycles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</a:tbl>
          </a:graphicData>
        </a:graphic>
      </p:graphicFrame>
      <p:sp>
        <p:nvSpPr>
          <p:cNvPr id="6" name="text-126">
            <a:extLst xmlns:a="http://schemas.openxmlformats.org/drawingml/2006/main">
              <a:ext uri="{FF2B5EF4-FFF2-40B4-BE49-F238E27FC236}">
                <a16:creationId xmlns:a16="http://schemas.microsoft.com/office/drawing/2014/main" id="{A53FA06B-568B-43BE-BAA6-BF46E1CE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The evaluation plan establishes a baseline before purchasing targets are set.</a:t>
            </a:r>
          </a:p>
        </p:txBody>
      </p:sp>
    </p:spTree>
    <p:extLst>
      <p:ext uri="{BB962C8B-B14F-4D97-AF65-F5344CB8AC3E}">
        <p14:creationId xmlns:p14="http://schemas.microsoft.com/office/powerpoint/2010/main" val="1798489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7">
            <a:extLst xmlns:a="http://schemas.openxmlformats.org/drawingml/2006/main">
              <a:ext uri="{FF2B5EF4-FFF2-40B4-BE49-F238E27FC236}">
                <a16:creationId xmlns:a16="http://schemas.microsoft.com/office/drawing/2014/main" id="{889FB9EB-A388-4BBA-8BCD-CE7932FD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128">
            <a:extLst xmlns:a="http://schemas.openxmlformats.org/drawingml/2006/main">
              <a:ext uri="{FF2B5EF4-FFF2-40B4-BE49-F238E27FC236}">
                <a16:creationId xmlns:a16="http://schemas.microsoft.com/office/drawing/2014/main" id="{3C1FF366-8BB8-472A-AF00-540D3A8E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1D52D1CC-0A2D-4069-BDAF-20469DC8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Workbook structure</a:t>
            </a:r>
          </a:p>
        </p:txBody>
      </p:sp>
      <p:sp>
        <p:nvSpPr>
          <p:cNvPr id="4" name="text-130">
            <a:extLst xmlns:a="http://schemas.openxmlformats.org/drawingml/2006/main">
              <a:ext uri="{FF2B5EF4-FFF2-40B4-BE49-F238E27FC236}">
                <a16:creationId xmlns:a16="http://schemas.microsoft.com/office/drawing/2014/main" id="{0C8650A4-A94D-485B-AA13-2F155BDA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D0B50-D8B2-41CC-9FA2-CBA7052ACE2B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Workbook area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T w="6668">
                      <a:solidFill>
                        <a:srgbClr val="DCE3DD"/>
                      </a:solidFill>
                      <a:prstDash val="solid"/>
                    </a:lnT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234D40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Master, Mapping and Canonical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Convert menu sales into standardized dish counts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Recipes, Ingredients and Packaging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Estimate usage and convert supplier units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UsageCases and ParLevels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Calculate daily demand and coverage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InventoryOnHand and ReceivingLog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Compare expected stock with physical counts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EDF1E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PredictivePurchasing and ForecastValidation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CE3DD"/>
                      </a:solidFill>
                      <a:prstDash val="solid"/>
                    </a:lnL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28"/>
                          </a:solidFill>
                          <a:latin typeface="Calibri"/>
                          <a:ea typeface="Calibri"/>
                          <a:cs typeface="Calibri"/>
                        </a:rPr>
                        <a:t>Calculate suggested cases and evaluate forecasts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CE3DD"/>
                      </a:solidFill>
                      <a:prstDash val="solid"/>
                    </a:lnR>
                    <a:lnB w="6668">
                      <a:solidFill>
                        <a:srgbClr val="DCE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3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1">
            <a:extLst xmlns:a="http://schemas.openxmlformats.org/drawingml/2006/main">
              <a:ext uri="{FF2B5EF4-FFF2-40B4-BE49-F238E27FC236}">
                <a16:creationId xmlns:a16="http://schemas.microsoft.com/office/drawing/2014/main" id="{61D14C49-9B95-4A65-B2E3-BEFE7DC2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ANNIE ZHENG</a:t>
            </a:r>
          </a:p>
        </p:txBody>
      </p:sp>
      <p:sp>
        <p:nvSpPr>
          <p:cNvPr id="2" name="text-132">
            <a:extLst xmlns:a="http://schemas.openxmlformats.org/drawingml/2006/main">
              <a:ext uri="{FF2B5EF4-FFF2-40B4-BE49-F238E27FC236}">
                <a16:creationId xmlns:a16="http://schemas.microsoft.com/office/drawing/2014/main" id="{E6B46A34-8861-452C-BD19-F2DE14C6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text-133">
            <a:extLst xmlns:a="http://schemas.openxmlformats.org/drawingml/2006/main">
              <a:ext uri="{FF2B5EF4-FFF2-40B4-BE49-F238E27FC236}">
                <a16:creationId xmlns:a16="http://schemas.microsoft.com/office/drawing/2014/main" id="{1BB4CC81-05BB-4C8F-A03B-D3A586A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34D4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34D40"/>
                </a:solidFill>
                <a:latin typeface="Calibri"/>
                <a:ea typeface="Calibri"/>
                <a:cs typeface="Calibri"/>
              </a:rPr>
              <a:t>Forecast validation and scope</a:t>
            </a:r>
          </a:p>
        </p:txBody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65C91D8C-5E56-477F-8727-D7BE9914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75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9675F"/>
                </a:solidFill>
                <a:latin typeface="Calibri"/>
                <a:ea typeface="Calibri"/>
                <a:cs typeface="Calibri"/>
              </a:rPr>
              <a:t>Portfolio demonstration. All restaurant figures, recipes and business identifiers are fictional.</a:t>
            </a:r>
          </a:p>
        </p:txBody>
      </p:sp>
      <p:sp>
        <p:nvSpPr>
          <p:cNvPr id="5" name="text-135">
            <a:extLst xmlns:a="http://schemas.openxmlformats.org/drawingml/2006/main">
              <a:ext uri="{FF2B5EF4-FFF2-40B4-BE49-F238E27FC236}">
                <a16:creationId xmlns:a16="http://schemas.microsoft.com/office/drawing/2014/main" id="{2BD5BD00-432C-453B-8F0E-6CCF410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Absolute error = absolute value of forecast minus observed usage.</a:t>
            </a:r>
          </a:p>
        </p:txBody>
      </p:sp>
      <p:sp>
        <p:nvSpPr>
          <p:cNvPr id="6" name="text-136">
            <a:extLst xmlns:a="http://schemas.openxmlformats.org/drawingml/2006/main">
              <a:ext uri="{FF2B5EF4-FFF2-40B4-BE49-F238E27FC236}">
                <a16:creationId xmlns:a16="http://schemas.microsoft.com/office/drawing/2014/main" id="{B2BB2CBE-E91F-424A-B7AA-1D6C3C4B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Weighted absolute percentage error = total absolute error / total usage, for the same ingredient and period.</a:t>
            </a:r>
          </a:p>
        </p:txBody>
      </p:sp>
      <p:sp>
        <p:nvSpPr>
          <p:cNvPr id="7" name="text-137">
            <a:extLst xmlns:a="http://schemas.openxmlformats.org/drawingml/2006/main">
              <a:ext uri="{FF2B5EF4-FFF2-40B4-BE49-F238E27FC236}">
                <a16:creationId xmlns:a16="http://schemas.microsoft.com/office/drawing/2014/main" id="{248C436F-BDE2-420E-BCA8-96082C5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Zero observed usage gives an unavailable percentage. Different ingredient units should not be pooled.</a:t>
            </a:r>
          </a:p>
        </p:txBody>
      </p:sp>
      <p:sp>
        <p:nvSpPr>
          <p:cNvPr id="8" name="text-138">
            <a:extLst xmlns:a="http://schemas.openxmlformats.org/drawingml/2006/main">
              <a:ext uri="{FF2B5EF4-FFF2-40B4-BE49-F238E27FC236}">
                <a16:creationId xmlns:a16="http://schemas.microsoft.com/office/drawing/2014/main" id="{A22BB093-2BA4-411B-88A0-07370E85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B2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02B28"/>
                </a:solidFill>
                <a:latin typeface="Calibri"/>
                <a:ea typeface="Calibri"/>
                <a:cs typeface="Calibri"/>
              </a:rPr>
              <a:t>The companion workbook demonstrates these controls with fictional sales, recipes, stock records and purchasing inputs.</a:t>
            </a:r>
          </a:p>
        </p:txBody>
      </p:sp>
    </p:spTree>
    <p:extLst>
      <p:ext uri="{BB962C8B-B14F-4D97-AF65-F5344CB8AC3E}">
        <p14:creationId xmlns:p14="http://schemas.microsoft.com/office/powerpoint/2010/main" val="1447857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2026-10-21T01:34:37.8230000Z</dcterms:created>
  <dcterms:modified xsi:type="dcterms:W3CDTF">2026-10-21T01:34:37.8230000Z</dcterms:modified>
</coreProperties>
</file>