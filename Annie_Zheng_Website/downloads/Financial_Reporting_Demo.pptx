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06476b683243e5" /><Relationship Type="http://schemas.openxmlformats.org/officeDocument/2006/relationships/extended-properties" Target="/docProps/app.xml" Id="R32caf5cf4e8b4030" /><Relationship Type="http://schemas.openxmlformats.org/officeDocument/2006/relationships/officeDocument" Target="/ppt/presentation.xml" Id="Ra2116cb27b98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92bb6156294894"/>
  </p:sldMasterIdLst>
  <p:notesMasterIdLst>
    <p:notesMasterId xmlns:r="http://schemas.openxmlformats.org/officeDocument/2006/relationships" r:id="Refb20c40b2b44c14"/>
  </p:notesMasterIdLst>
  <p:sldIdLst>
    <p:sldId xmlns:r="http://schemas.openxmlformats.org/officeDocument/2006/relationships" id="256" r:id="R9324b4d5ace74093"/>
    <p:sldId xmlns:r="http://schemas.openxmlformats.org/officeDocument/2006/relationships" id="257" r:id="R73359b9e7d3b4844"/>
    <p:sldId xmlns:r="http://schemas.openxmlformats.org/officeDocument/2006/relationships" id="258" r:id="R0f68d72b2f874fda"/>
    <p:sldId xmlns:r="http://schemas.openxmlformats.org/officeDocument/2006/relationships" id="259" r:id="R3e7237196bb34e3e"/>
    <p:sldId xmlns:r="http://schemas.openxmlformats.org/officeDocument/2006/relationships" id="260" r:id="R432b45633c2b423a"/>
    <p:sldId xmlns:r="http://schemas.openxmlformats.org/officeDocument/2006/relationships" id="261" r:id="R38029b4970054cbc"/>
    <p:sldId xmlns:r="http://schemas.openxmlformats.org/officeDocument/2006/relationships" id="262" r:id="Rb09f65af57524050"/>
    <p:sldId xmlns:r="http://schemas.openxmlformats.org/officeDocument/2006/relationships" id="263" r:id="Rb215f7c5bd8c4348"/>
    <p:sldId xmlns:r="http://schemas.openxmlformats.org/officeDocument/2006/relationships" id="264" r:id="Rea1a74085d8e4f17"/>
    <p:sldId xmlns:r="http://schemas.openxmlformats.org/officeDocument/2006/relationships" id="265" r:id="Rba3095b5363e49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d2510c70446a3" /><Relationship Type="http://schemas.openxmlformats.org/officeDocument/2006/relationships/slideMaster" Target="/ppt/slideMasters/slideMaster1.xml" Id="Rb592bb6156294894" /><Relationship Type="http://schemas.openxmlformats.org/officeDocument/2006/relationships/notesMaster" Target="/ppt/notesMasters/notesMaster1.xml" Id="Refb20c40b2b44c14" /><Relationship Type="http://schemas.openxmlformats.org/officeDocument/2006/relationships/presProps" Target="/ppt/presProps.xml" Id="Ra1fc1b1779d04254" /><Relationship Type="http://schemas.openxmlformats.org/officeDocument/2006/relationships/tableStyles" Target="/ppt/tableStyles.xml" Id="Rb3a464ddb35e4b2e" /><Relationship Type="http://schemas.openxmlformats.org/officeDocument/2006/relationships/slide" Target="/ppt/slides/slide1.xml" Id="R9324b4d5ace74093" /><Relationship Type="http://schemas.openxmlformats.org/officeDocument/2006/relationships/slide" Target="/ppt/slides/slide2.xml" Id="R73359b9e7d3b4844" /><Relationship Type="http://schemas.openxmlformats.org/officeDocument/2006/relationships/slide" Target="/ppt/slides/slide3.xml" Id="R0f68d72b2f874fda" /><Relationship Type="http://schemas.openxmlformats.org/officeDocument/2006/relationships/slide" Target="/ppt/slides/slide4.xml" Id="R3e7237196bb34e3e" /><Relationship Type="http://schemas.openxmlformats.org/officeDocument/2006/relationships/slide" Target="/ppt/slides/slide5.xml" Id="R432b45633c2b423a" /><Relationship Type="http://schemas.openxmlformats.org/officeDocument/2006/relationships/slide" Target="/ppt/slides/slide6.xml" Id="R38029b4970054cbc" /><Relationship Type="http://schemas.openxmlformats.org/officeDocument/2006/relationships/slide" Target="/ppt/slides/slide7.xml" Id="Rb09f65af57524050" /><Relationship Type="http://schemas.openxmlformats.org/officeDocument/2006/relationships/slide" Target="/ppt/slides/slide8.xml" Id="Rb215f7c5bd8c4348" /><Relationship Type="http://schemas.openxmlformats.org/officeDocument/2006/relationships/slide" Target="/ppt/slides/slide9.xml" Id="Rea1a74085d8e4f17" /><Relationship Type="http://schemas.openxmlformats.org/officeDocument/2006/relationships/slide" Target="/ppt/slides/slide10.xml" Id="Rba3095b5363e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786ae508d4a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cc43ef61f41b3" /><Relationship Type="http://schemas.openxmlformats.org/officeDocument/2006/relationships/notesMaster" Target="/ppt/notesMasters/notesMaster1.xml" Id="Rad6bae0912104e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51dde0a71b4b5f" /><Relationship Type="http://schemas.openxmlformats.org/officeDocument/2006/relationships/notesMaster" Target="/ppt/notesMasters/notesMaster1.xml" Id="R9d9b1f3e4ea641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2ac07d9f1846c7" /><Relationship Type="http://schemas.openxmlformats.org/officeDocument/2006/relationships/notesMaster" Target="/ppt/notesMasters/notesMaster1.xml" Id="Rb6695bcfb41546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f01ef08dea4006" /><Relationship Type="http://schemas.openxmlformats.org/officeDocument/2006/relationships/notesMaster" Target="/ppt/notesMasters/notesMaster1.xml" Id="R070c0f39711944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243a4b4f6c4361" /><Relationship Type="http://schemas.openxmlformats.org/officeDocument/2006/relationships/notesMaster" Target="/ppt/notesMasters/notesMaster1.xml" Id="Rdb0c523f409944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a27e1e55e94871" /><Relationship Type="http://schemas.openxmlformats.org/officeDocument/2006/relationships/notesMaster" Target="/ppt/notesMasters/notesMaster1.xml" Id="R20c1fed117e54f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67ad556bb4f2c" /><Relationship Type="http://schemas.openxmlformats.org/officeDocument/2006/relationships/notesMaster" Target="/ppt/notesMasters/notesMaster1.xml" Id="Re152bbb78cb544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bd5bfdbabd423f" /><Relationship Type="http://schemas.openxmlformats.org/officeDocument/2006/relationships/notesMaster" Target="/ppt/notesMasters/notesMaster1.xml" Id="R5be36e67501940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6f0ec5d297460e" /><Relationship Type="http://schemas.openxmlformats.org/officeDocument/2006/relationships/notesMaster" Target="/ppt/notesMasters/notesMaster1.xml" Id="Rd214dfb56ddd45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f1ee14aa7e4654" /><Relationship Type="http://schemas.openxmlformats.org/officeDocument/2006/relationships/notesMaster" Target="/ppt/notesMasters/notesMaster1.xml" Id="Rcfb4e727669a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85e531d5442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ae0ef94b948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25a28b04443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3935709be4e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71b56f83a4f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f9a1f43bf46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76AC4D-C471-4948-BB16-5ED8F99D7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561010-7B2E-4977-8D05-3ADA710433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4B868D-B0DB-4B9A-889D-0933A8897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6826A0-F2EE-4886-8308-0680A3F5E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225DA5-C7C4-4FC3-ABBF-CB4C23CAB8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4D82C0-9591-4E6A-A2AA-D56416EC3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94A1E4-4726-4939-A98A-9259B5AC48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F02C0B-EE61-4F43-B8F8-69929A7288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2F75BB-3853-4A16-A871-115B083B5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66D2AD-5F16-4E7C-967B-D6279865D5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e3a3cc153046c6" /><Relationship Type="http://schemas.openxmlformats.org/officeDocument/2006/relationships/slideLayout" Target="/ppt/slideLayouts/slideLayout1.xml" Id="Rd11dd7e283af456d" /><Relationship Type="http://schemas.openxmlformats.org/officeDocument/2006/relationships/slideLayout" Target="/ppt/slideLayouts/slideLayout2.xml" Id="Rd66728f4ed57409e" /><Relationship Type="http://schemas.openxmlformats.org/officeDocument/2006/relationships/slideLayout" Target="/ppt/slideLayouts/slideLayout3.xml" Id="R2c4e7b22ef8d4cf0" /><Relationship Type="http://schemas.openxmlformats.org/officeDocument/2006/relationships/slideLayout" Target="/ppt/slideLayouts/slideLayout4.xml" Id="Rb3eaae79ff214214" /><Relationship Type="http://schemas.openxmlformats.org/officeDocument/2006/relationships/slideLayout" Target="/ppt/slideLayouts/slideLayout5.xml" Id="R00380241e7064555" /><Relationship Type="http://schemas.openxmlformats.org/officeDocument/2006/relationships/slideLayout" Target="/ppt/slideLayouts/slideLayout6.xml" Id="Rf8db04873541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1dd7e283af456d"/>
    <p:sldLayoutId xmlns:r="http://schemas.openxmlformats.org/officeDocument/2006/relationships" id="2147483650" r:id="Rd66728f4ed57409e"/>
    <p:sldLayoutId xmlns:r="http://schemas.openxmlformats.org/officeDocument/2006/relationships" id="2147483651" r:id="R2c4e7b22ef8d4cf0"/>
    <p:sldLayoutId xmlns:r="http://schemas.openxmlformats.org/officeDocument/2006/relationships" id="2147483652" r:id="Rb3eaae79ff214214"/>
    <p:sldLayoutId xmlns:r="http://schemas.openxmlformats.org/officeDocument/2006/relationships" id="2147483653" r:id="R00380241e7064555"/>
    <p:sldLayoutId xmlns:r="http://schemas.openxmlformats.org/officeDocument/2006/relationships" id="2147483654" r:id="Rf8db04873541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25f35a03d459d" /><Relationship Type="http://schemas.openxmlformats.org/officeDocument/2006/relationships/notesSlide" Target="/ppt/notesSlides/notesSlide1.xml" Id="Rb1fd896f679c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a1b64f16845b6" /><Relationship Type="http://schemas.openxmlformats.org/officeDocument/2006/relationships/notesSlide" Target="/ppt/notesSlides/notesSlide2.xml" Id="R5170b501314e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691bed8644091" /><Relationship Type="http://schemas.openxmlformats.org/officeDocument/2006/relationships/chart" Target="/ppt/slides/charts/chart1.xml" Id="R1bd9da93ec7d4b6b" /><Relationship Type="http://schemas.openxmlformats.org/officeDocument/2006/relationships/notesSlide" Target="/ppt/notesSlides/notesSlide3.xml" Id="Ra7a96195d9be45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d5247124142fc" /><Relationship Type="http://schemas.openxmlformats.org/officeDocument/2006/relationships/notesSlide" Target="/ppt/notesSlides/notesSlide4.xml" Id="R0cb6f085153d44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f95fe8ada4e89" /><Relationship Type="http://schemas.openxmlformats.org/officeDocument/2006/relationships/notesSlide" Target="/ppt/notesSlides/notesSlide5.xml" Id="R65d1084fdcd549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edbf916954f61" /><Relationship Type="http://schemas.openxmlformats.org/officeDocument/2006/relationships/notesSlide" Target="/ppt/notesSlides/notesSlide6.xml" Id="R9ccf6fe367f641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e5e5b00544454" /><Relationship Type="http://schemas.openxmlformats.org/officeDocument/2006/relationships/notesSlide" Target="/ppt/notesSlides/notesSlide7.xml" Id="Rd2437556cf644b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d27e8677f411c" /><Relationship Type="http://schemas.openxmlformats.org/officeDocument/2006/relationships/notesSlide" Target="/ppt/notesSlides/notesSlide8.xml" Id="R43fc6358a9954b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39e36adea4f46" /><Relationship Type="http://schemas.openxmlformats.org/officeDocument/2006/relationships/notesSlide" Target="/ppt/notesSlides/notesSlide9.xml" Id="R824bdf14c47b47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16fb762554711" /><Relationship Type="http://schemas.openxmlformats.org/officeDocument/2006/relationships/notesSlide" Target="/ppt/notesSlides/notesSlide10.xml" Id="Rbd83d5a05e984d2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Revenue (USD)</c:v>
          </c:tx>
          <c:spPr>
            <a:solidFill xmlns:a="http://schemas.openxmlformats.org/drawingml/2006/main">
              <a:srgbClr val="234D40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Period 1</c:v>
                </c:pt>
                <c:pt idx="1">
                  <c:v>Period 2</c:v>
                </c:pt>
              </c:strCache>
            </c:strRef>
          </c:cat>
          <c:val>
            <c:numRef>
              <c:f>'Chart Data'!$B$2:$B$3</c:f>
              <c:numCache>
                <c:formatCode>$#,##0</c:formatCode>
                <c:ptCount val="2"/>
                <c:pt idx="0">
                  <c:v>58000</c:v>
                </c:pt>
                <c:pt idx="1">
                  <c:v>63600</c:v>
                </c:pt>
              </c:numCache>
            </c:numRef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80000"/>
          <c:min val="0"/>
        </c:scaling>
        <c:delete val="0"/>
        <c:axPos val="l"/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6CFF42DE-7C2F-4739-99EE-03F5ABA4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C97C473-D917-438C-B631-89647E32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E902E3A-B378-4691-A3B8-533B7BE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Restaurant Financial Reporting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23E99FE-AF42-4364-A1D4-A576FC2C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3F1F583-7E29-4EE5-815B-7932F2B5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Monthly P&amp;L and management review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4D99599-91C3-4146-9D68-710DD076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Demonstration of transaction categorization, monthly comparison and financial controls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00374EF-7645-4EA9-A59F-9B89A898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Store B example using fictional Period 1 and Period 2 data</a:t>
            </a:r>
          </a:p>
        </p:txBody>
      </p:sp>
    </p:spTree>
    <p:extLst>
      <p:ext uri="{BB962C8B-B14F-4D97-AF65-F5344CB8AC3E}">
        <p14:creationId xmlns:p14="http://schemas.microsoft.com/office/powerpoint/2010/main" val="1383172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8">
            <a:extLst xmlns:a="http://schemas.openxmlformats.org/drawingml/2006/main">
              <a:ext uri="{FF2B5EF4-FFF2-40B4-BE49-F238E27FC236}">
                <a16:creationId xmlns:a16="http://schemas.microsoft.com/office/drawing/2014/main" id="{D82972E3-AA44-46C0-AECF-E50C2856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9">
            <a:extLst xmlns:a="http://schemas.openxmlformats.org/drawingml/2006/main">
              <a:ext uri="{FF2B5EF4-FFF2-40B4-BE49-F238E27FC236}">
                <a16:creationId xmlns:a16="http://schemas.microsoft.com/office/drawing/2014/main" id="{D46C5333-3D99-48DF-96DD-0168C34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64D87EC1-276A-425B-8699-6DD524C2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Reporting structure</a:t>
            </a:r>
          </a:p>
        </p:txBody>
      </p:sp>
      <p:sp>
        <p:nvSpPr>
          <p:cNvPr id="4" name="text-11">
            <a:extLst xmlns:a="http://schemas.openxmlformats.org/drawingml/2006/main">
              <a:ext uri="{FF2B5EF4-FFF2-40B4-BE49-F238E27FC236}">
                <a16:creationId xmlns:a16="http://schemas.microsoft.com/office/drawing/2014/main" id="{DEB8E690-C2DB-4506-A697-2D1814EB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ACD33-9CB9-4461-8635-0FAE0AB09A83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59130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Initial problem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Reporting approach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Sales and spending totals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Revenue by sales channel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Unclear expense drivers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Consistent operating cost categories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Limited monthly comparison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P&amp;L and variance calculations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Unresolved classifications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Exception review before release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</a:tbl>
          </a:graphicData>
        </a:graphic>
      </p:graphicFrame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BD53C05C-E1B4-4E64-9A15-1BD8AC4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The project addresses financial visibility. Any financial improvement requires separate measurement.</a:t>
            </a:r>
          </a:p>
        </p:txBody>
      </p:sp>
    </p:spTree>
    <p:extLst>
      <p:ext uri="{BB962C8B-B14F-4D97-AF65-F5344CB8AC3E}">
        <p14:creationId xmlns:p14="http://schemas.microsoft.com/office/powerpoint/2010/main" val="970816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3">
            <a:extLst xmlns:a="http://schemas.openxmlformats.org/drawingml/2006/main">
              <a:ext uri="{FF2B5EF4-FFF2-40B4-BE49-F238E27FC236}">
                <a16:creationId xmlns:a16="http://schemas.microsoft.com/office/drawing/2014/main" id="{712436CD-A1AF-4115-A5EE-2A6E44DD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8A229FFA-092C-4ACC-88D3-E66019AB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3FBEB597-D57A-46BF-A24A-FB998D18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Illustrative revenue and operating result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35928051-2E0E-4947-9AE7-4EC66D0E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BD000F88-7177-49CA-ADC6-6C9C2F5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$63,600</a:t>
            </a:r>
          </a:p>
        </p:txBody>
      </p:sp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BBED89EE-13C4-4744-9340-3A5C8D91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Period 2 revenue</a:t>
            </a:r>
          </a:p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DA37CBBB-B958-4A30-900B-0A91B880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+$2,600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FF02453B-3012-4FFB-9121-AC1A9BFC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Change in operating result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3507038D-83BD-4F83-9E01-3E1EE68BBE73}"/>
              </a:ext>
            </a:extLst>
          </p:cNvPr>
          <p:cNvGraphicFramePr/>
          <p:nvPr/>
        </p:nvGraphicFramePr>
        <p:xfrm>
          <a:off xmlns:a="http://schemas.openxmlformats.org/drawingml/2006/main" x="5334000" y="1952625"/>
          <a:ext xmlns:a="http://schemas.openxmlformats.org/drawingml/2006/main" cx="6191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d9da93ec7d4b6b"/>
          </a:graphicData>
        </a:graphic>
      </p:graphicFrame>
      <p:sp>
        <p:nvSpPr>
          <p:cNvPr id="10" name="text-21">
            <a:extLst xmlns:a="http://schemas.openxmlformats.org/drawingml/2006/main">
              <a:ext uri="{FF2B5EF4-FFF2-40B4-BE49-F238E27FC236}">
                <a16:creationId xmlns:a16="http://schemas.microsoft.com/office/drawing/2014/main" id="{8E2A100C-031E-43C1-ACDD-6DAC57F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Operating result: ($2,100) in Period 1 and $500 in Period 2. Demonstration values are not company results.</a:t>
            </a:r>
          </a:p>
        </p:txBody>
      </p:sp>
    </p:spTree>
    <p:extLst>
      <p:ext uri="{BB962C8B-B14F-4D97-AF65-F5344CB8AC3E}">
        <p14:creationId xmlns:p14="http://schemas.microsoft.com/office/powerpoint/2010/main" val="1910666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42497DFE-F3A7-4233-B7FF-B62E8BDF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C59B9E3A-77DB-4E4F-AF9D-90271934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text-24">
            <a:extLst xmlns:a="http://schemas.openxmlformats.org/drawingml/2006/main">
              <a:ext uri="{FF2B5EF4-FFF2-40B4-BE49-F238E27FC236}">
                <a16:creationId xmlns:a16="http://schemas.microsoft.com/office/drawing/2014/main" id="{3E64E23F-3937-4A7F-A420-45DF22C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P&amp;L comparison</a:t>
            </a:r>
          </a:p>
        </p:txBody>
      </p:sp>
      <p:sp>
        <p:nvSpPr>
          <p:cNvPr id="4" name="text-25">
            <a:extLst xmlns:a="http://schemas.openxmlformats.org/drawingml/2006/main">
              <a:ext uri="{FF2B5EF4-FFF2-40B4-BE49-F238E27FC236}">
                <a16:creationId xmlns:a16="http://schemas.microsoft.com/office/drawing/2014/main" id="{C316C0DC-689E-4726-91FA-E44CDCA7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FCDBA-294A-4C12-A601-9B651BA7E34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133600"/>
                <a:gridCol w="2133600"/>
                <a:gridCol w="213360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Period 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Period 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Change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$58,000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$63,600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+$5,600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Direct operating costs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$40,500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$42,900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+$2,400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Contribution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$17,500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$20,700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+$3,200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Other operating expenses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$19,600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$20,200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+$600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Operating result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($2,100)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$500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+$2,600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00D5161F-E7E8-4A41-A589-DBB9B8ED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Direct costs include food, central kitchen fees, restaurant labor and marketplace commissions. Contribution is revenue less direct costs.</a:t>
            </a:r>
          </a:p>
        </p:txBody>
      </p:sp>
    </p:spTree>
    <p:extLst>
      <p:ext uri="{BB962C8B-B14F-4D97-AF65-F5344CB8AC3E}">
        <p14:creationId xmlns:p14="http://schemas.microsoft.com/office/powerpoint/2010/main" val="2091105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73D8EED7-71D7-47AB-9940-0313E6D5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CAD2D8D1-3603-4951-A186-9919D26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32C046A6-1BF3-4F1B-A3FD-DDFF90CD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Channel contribution analysis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367A3EC3-4D76-4415-B89D-68D0F33C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65E1E-3D63-41EA-9F01-F126196711D9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204787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Period 2 channel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Marketplace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$34,000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Walk-in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$15,600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Phone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$10,000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Website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$4,000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</a:tbl>
          </a:graphicData>
        </a:graphic>
      </p:graphicFrame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D8B3FA06-4FBB-40A4-BE56-E76FA45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53.5%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2E9BCB5B-21D8-48B8-BA51-D2EF9E03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Illustrative marketplace share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BFDEB478-29CE-41CB-BE21-1C2587E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Review revenue less commissions, promotions and variable costs. Confirm gross versus net recording before deducting fees.</a:t>
            </a:r>
          </a:p>
        </p:txBody>
      </p:sp>
    </p:spTree>
    <p:extLst>
      <p:ext uri="{BB962C8B-B14F-4D97-AF65-F5344CB8AC3E}">
        <p14:creationId xmlns:p14="http://schemas.microsoft.com/office/powerpoint/2010/main" val="1877854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4">
            <a:extLst xmlns:a="http://schemas.openxmlformats.org/drawingml/2006/main">
              <a:ext uri="{FF2B5EF4-FFF2-40B4-BE49-F238E27FC236}">
                <a16:creationId xmlns:a16="http://schemas.microsoft.com/office/drawing/2014/main" id="{BF46DFE4-C0B0-4C29-A6D0-6AAF448A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7E028254-D19F-4C0F-93E9-7A7DF2FD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54A67DE3-CD2C-4E54-B848-AC1FF9D1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Monthly close workflow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491596A8-ECB1-4761-9BD4-0CF7C5F9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2AC8D-13B6-4052-8E58-30E72F3E4D6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810000"/>
                <a:gridCol w="51625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 performed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Import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App and bank exports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Period, duplicates and source totals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Categorize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Category mapping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New and unclear transactions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Validate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P&amp;L calculations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Missing costs and exclusions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Monthly variances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Action owner and due date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</a:tbl>
          </a:graphicData>
        </a:graphic>
      </p:graphicFrame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68C7796A-70B8-42FE-ACBC-529A8958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Tools and methods: transaction exports, category mapping, spreadsheet formulas and exception review.</a:t>
            </a:r>
          </a:p>
        </p:txBody>
      </p:sp>
    </p:spTree>
    <p:extLst>
      <p:ext uri="{BB962C8B-B14F-4D97-AF65-F5344CB8AC3E}">
        <p14:creationId xmlns:p14="http://schemas.microsoft.com/office/powerpoint/2010/main" val="1815058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9">
            <a:extLst xmlns:a="http://schemas.openxmlformats.org/drawingml/2006/main">
              <a:ext uri="{FF2B5EF4-FFF2-40B4-BE49-F238E27FC236}">
                <a16:creationId xmlns:a16="http://schemas.microsoft.com/office/drawing/2014/main" id="{0DAEFA46-7E03-47AD-ABE2-5D12E5A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E1F275A7-D036-4554-9363-B282A0DD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text-41">
            <a:extLst xmlns:a="http://schemas.openxmlformats.org/drawingml/2006/main">
              <a:ext uri="{FF2B5EF4-FFF2-40B4-BE49-F238E27FC236}">
                <a16:creationId xmlns:a16="http://schemas.microsoft.com/office/drawing/2014/main" id="{053E8531-D71E-4EEE-B664-494D712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Accounting assumptions and limitations</a:t>
            </a:r>
          </a:p>
        </p:txBody>
      </p:sp>
      <p:sp>
        <p:nvSpPr>
          <p:cNvPr id="4" name="text-42">
            <a:extLst xmlns:a="http://schemas.openxmlformats.org/drawingml/2006/main">
              <a:ext uri="{FF2B5EF4-FFF2-40B4-BE49-F238E27FC236}">
                <a16:creationId xmlns:a16="http://schemas.microsoft.com/office/drawing/2014/main" id="{31E4B1B8-EAE2-4902-BD12-C349B3D8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185BDB05-B47B-4EED-BD47-9508598B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Transaction timing determines which month receives each entry. Payment date and expense period can differ.</a:t>
            </a:r>
          </a:p>
        </p:txBody>
      </p:sp>
      <p:sp>
        <p:nvSpPr>
          <p:cNvPr id="6" name="text-44">
            <a:extLst xmlns:a="http://schemas.openxmlformats.org/drawingml/2006/main">
              <a:ext uri="{FF2B5EF4-FFF2-40B4-BE49-F238E27FC236}">
                <a16:creationId xmlns:a16="http://schemas.microsoft.com/office/drawing/2014/main" id="{DEAAC802-22F2-4ED6-B39B-7B97C4A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Food purchases approximate spending. Actual consumption requires opening and closing inventory adjustments.</a:t>
            </a:r>
          </a:p>
        </p:txBody>
      </p:sp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EC08434E-B07F-42FA-BD96-80C73DEE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Shared costs need a consistent allocation policy. A zero expense requires review for missing data.</a:t>
            </a:r>
          </a:p>
        </p:txBody>
      </p:sp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66B4DA4B-7F6A-47FE-B057-2A60ACE5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Operating result equals revenue less the eight expense categories included in this management report.</a:t>
            </a:r>
          </a:p>
        </p:txBody>
      </p:sp>
    </p:spTree>
    <p:extLst>
      <p:ext uri="{BB962C8B-B14F-4D97-AF65-F5344CB8AC3E}">
        <p14:creationId xmlns:p14="http://schemas.microsoft.com/office/powerpoint/2010/main" val="1329610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A4A00EEC-D25A-4BB2-AAA5-B21B3A8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5F9FAF72-755D-4D24-87E9-26EC29D4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text-49">
            <a:extLst xmlns:a="http://schemas.openxmlformats.org/drawingml/2006/main">
              <a:ext uri="{FF2B5EF4-FFF2-40B4-BE49-F238E27FC236}">
                <a16:creationId xmlns:a16="http://schemas.microsoft.com/office/drawing/2014/main" id="{5E261657-E39F-42B1-8D9A-F8A6810E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Proposed measurement plan</a:t>
            </a:r>
          </a:p>
        </p:txBody>
      </p:sp>
      <p:sp>
        <p:nvSpPr>
          <p:cNvPr id="4" name="text-50">
            <a:extLst xmlns:a="http://schemas.openxmlformats.org/drawingml/2006/main">
              <a:ext uri="{FF2B5EF4-FFF2-40B4-BE49-F238E27FC236}">
                <a16:creationId xmlns:a16="http://schemas.microsoft.com/office/drawing/2014/main" id="{62D48035-6C0D-4D13-83DB-F63233D6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31795-A69C-4F06-90CE-C9DB01CF4C0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Measure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How to evaluate it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Close timeliness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Days from month-end to approved report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Category coverage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Eligible entries classified at close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Reconciliation difference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Unexplained difference from source totals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Action follow-up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Owner, due date and outcome of each action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</a:tbl>
          </a:graphicData>
        </a:graphic>
      </p:graphicFrame>
      <p:sp>
        <p:nvSpPr>
          <p:cNvPr id="6" name="text-51">
            <a:extLst xmlns:a="http://schemas.openxmlformats.org/drawingml/2006/main">
              <a:ext uri="{FF2B5EF4-FFF2-40B4-BE49-F238E27FC236}">
                <a16:creationId xmlns:a16="http://schemas.microsoft.com/office/drawing/2014/main" id="{E52CC966-2C6A-4773-88CF-0FD9FD2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Establish the baseline at the first reconciled close, then track these measures each month.</a:t>
            </a:r>
          </a:p>
        </p:txBody>
      </p:sp>
    </p:spTree>
    <p:extLst>
      <p:ext uri="{BB962C8B-B14F-4D97-AF65-F5344CB8AC3E}">
        <p14:creationId xmlns:p14="http://schemas.microsoft.com/office/powerpoint/2010/main" val="959145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2">
            <a:extLst xmlns:a="http://schemas.openxmlformats.org/drawingml/2006/main">
              <a:ext uri="{FF2B5EF4-FFF2-40B4-BE49-F238E27FC236}">
                <a16:creationId xmlns:a16="http://schemas.microsoft.com/office/drawing/2014/main" id="{25A005F5-96F7-4ADB-A3E5-5FFBF2DF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53">
            <a:extLst xmlns:a="http://schemas.openxmlformats.org/drawingml/2006/main">
              <a:ext uri="{FF2B5EF4-FFF2-40B4-BE49-F238E27FC236}">
                <a16:creationId xmlns:a16="http://schemas.microsoft.com/office/drawing/2014/main" id="{B7507909-D6D5-43D7-B307-04CBCF6D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text-54">
            <a:extLst xmlns:a="http://schemas.openxmlformats.org/drawingml/2006/main">
              <a:ext uri="{FF2B5EF4-FFF2-40B4-BE49-F238E27FC236}">
                <a16:creationId xmlns:a16="http://schemas.microsoft.com/office/drawing/2014/main" id="{D6677368-1522-4A3F-9FEC-7DEC5B1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Transaction-to-report methodology</a:t>
            </a:r>
          </a:p>
        </p:txBody>
      </p:sp>
      <p:sp>
        <p:nvSpPr>
          <p:cNvPr id="4" name="text-55">
            <a:extLst xmlns:a="http://schemas.openxmlformats.org/drawingml/2006/main">
              <a:ext uri="{FF2B5EF4-FFF2-40B4-BE49-F238E27FC236}">
                <a16:creationId xmlns:a16="http://schemas.microsoft.com/office/drawing/2014/main" id="{E736B4C1-E957-4F2B-9F72-60718B22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26F1C-5075-44CC-A8BE-6CD8C6D4B1B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000500"/>
                <a:gridCol w="3686175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Transaction exports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Normalize dates and amounts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Consistent transaction records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Descriptions and mapping rules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Assign categories and review exceptions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Classified revenue and expenses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Classified records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Aggregate by month and category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Monthly P&amp;L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Approved monthly reports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Compare results and explain differences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Management review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2145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CE1BC41D-7D49-47C1-BD3C-8A5E397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50BA5C5C-A503-486F-BC4E-45E90AF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39FE1AF0-E552-47E4-8E7E-E1332686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Operating result bridge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DCDE4435-2DA9-4E42-9092-0CAFF8D4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64587-1B68-4A16-8ECF-FEB6014431F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91375"/>
                <a:gridCol w="3781425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Bridge item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Effect on operating result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Period 1 result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($2,100)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Higher revenue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+$5,600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Higher direct costs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($2,400)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Higher other expenses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($600)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Period 2 result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$500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60">
            <a:extLst xmlns:a="http://schemas.openxmlformats.org/drawingml/2006/main">
              <a:ext uri="{FF2B5EF4-FFF2-40B4-BE49-F238E27FC236}">
                <a16:creationId xmlns:a16="http://schemas.microsoft.com/office/drawing/2014/main" id="{12993721-25B1-4F83-B830-B0294EE3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($2,100) + $5,600 - $2,400 - $600 = $500</a:t>
            </a:r>
          </a:p>
        </p:txBody>
      </p:sp>
    </p:spTree>
    <p:extLst>
      <p:ext uri="{BB962C8B-B14F-4D97-AF65-F5344CB8AC3E}">
        <p14:creationId xmlns:p14="http://schemas.microsoft.com/office/powerpoint/2010/main" val="1069565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2026-10-21T01:34:33.2900000Z</dcterms:created>
  <dcterms:modified xsi:type="dcterms:W3CDTF">2026-10-21T01:34:33.2900000Z</dcterms:modified>
</coreProperties>
</file>